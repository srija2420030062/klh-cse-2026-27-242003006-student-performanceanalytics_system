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sldIdLst>
    <p:sldId id="256" r:id="rId2"/>
    <p:sldId id="267" r:id="rId3"/>
    <p:sldId id="257" r:id="rId4"/>
    <p:sldId id="266" r:id="rId5"/>
    <p:sldId id="258" r:id="rId6"/>
    <p:sldId id="259" r:id="rId7"/>
    <p:sldId id="260" r:id="rId8"/>
    <p:sldId id="262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99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86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64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14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12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51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17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17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7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1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46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5C06E2-492D-4535-AB56-D453523D6B6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67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7011" y="2056907"/>
            <a:ext cx="8677910" cy="551180"/>
          </a:xfrm>
        </p:spPr>
        <p:txBody>
          <a:bodyPr>
            <a:normAutofit/>
          </a:bodyPr>
          <a:lstStyle/>
          <a:p>
            <a:r>
              <a:rPr lang="en-IN" sz="3200" dirty="0"/>
              <a:t> Student Performance Analytics Dashboard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322FEB5-0737-5284-3BEC-96B5BFD15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6899" y="3870642"/>
            <a:ext cx="7766936" cy="1096899"/>
          </a:xfrm>
        </p:spPr>
        <p:txBody>
          <a:bodyPr>
            <a:normAutofit/>
          </a:bodyPr>
          <a:lstStyle/>
          <a:p>
            <a:pPr algn="ctr"/>
            <a:endParaRPr lang="en-US" alt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393443" y="4287252"/>
            <a:ext cx="8441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</a:t>
            </a:r>
          </a:p>
          <a:p>
            <a:br>
              <a:rPr lang="en-US" dirty="0">
                <a:latin typeface="Trebuchet MS" panose="020B0603020202020204" charset="0"/>
                <a:cs typeface="Trebuchet MS" panose="020B0603020202020204" charset="0"/>
              </a:rPr>
            </a:br>
            <a:endParaRPr lang="en-IN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21" y="-397884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/>
          <p:nvPr/>
        </p:nvSpPr>
        <p:spPr>
          <a:xfrm>
            <a:off x="2324616" y="2796605"/>
            <a:ext cx="675055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dirty="0"/>
              <a:t>Data Science </a:t>
            </a:r>
          </a:p>
          <a:p>
            <a:pPr algn="ctr"/>
            <a:r>
              <a:rPr lang="en-IN" dirty="0"/>
              <a:t>Team Members:</a:t>
            </a:r>
            <a:endParaRPr lang="en-US" dirty="0"/>
          </a:p>
          <a:p>
            <a:pPr algn="ctr"/>
            <a:r>
              <a:rPr lang="en-US" dirty="0"/>
              <a:t>A.Srija-2420030062</a:t>
            </a:r>
            <a:br>
              <a:rPr lang="en-US" dirty="0"/>
            </a:br>
            <a:r>
              <a:rPr lang="en-US" dirty="0"/>
              <a:t>I.Srivalli-2420030742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8150" y="237490"/>
            <a:ext cx="4154170" cy="818515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Statement: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56137" y="1183825"/>
            <a:ext cx="9671685" cy="4754859"/>
          </a:xfrm>
        </p:spPr>
        <p:txBody>
          <a:bodyPr>
            <a:no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Student performance data contains many factors such as </a:t>
            </a:r>
            <a:r>
              <a:rPr lang="en-IN" sz="2400" b="1" dirty="0"/>
              <a:t>marks, study time, attendance, absences and previous grades</a:t>
            </a:r>
            <a:r>
              <a:rPr lang="en-IN" sz="2400" dirty="0"/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 err="1"/>
              <a:t>Analyzing</a:t>
            </a:r>
            <a:r>
              <a:rPr lang="en-IN" sz="2400" dirty="0"/>
              <a:t> this data manually is difficult and time-consuming. 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It is difficult to identify </a:t>
            </a:r>
            <a:r>
              <a:rPr lang="en-IN" sz="2400" b="1" dirty="0"/>
              <a:t>patterns and students who may need additional support</a:t>
            </a:r>
            <a:r>
              <a:rPr lang="en-IN" sz="2400" dirty="0"/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A simple interactive system is needed to convert student data into </a:t>
            </a:r>
            <a:r>
              <a:rPr lang="en-IN" sz="2400" b="1" dirty="0"/>
              <a:t>clear visual insights</a:t>
            </a:r>
            <a:r>
              <a:rPr lang="en-IN" sz="2400" dirty="0"/>
              <a:t>.</a:t>
            </a:r>
          </a:p>
          <a:p>
            <a:endParaRPr lang="en-US" altLang="en-US" sz="24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A73FC0D-154F-8CAB-DE59-C89B86F11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706" y="-74128"/>
            <a:ext cx="2534614" cy="188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865" y="465243"/>
            <a:ext cx="5901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Real-World Relevance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865" y="1376515"/>
            <a:ext cx="832601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Helps educators understand student performance.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Helps identify factors affecting academic results.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Supports early identification of students who may need help.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Supports </a:t>
            </a:r>
            <a:r>
              <a:rPr lang="en-IN" sz="2400" b="1" dirty="0"/>
              <a:t>data-driven academic decisions</a:t>
            </a:r>
          </a:p>
          <a:p>
            <a:pPr lvl="0"/>
            <a:endParaRPr lang="en-IN" sz="2400" b="1" dirty="0"/>
          </a:p>
          <a:p>
            <a:pPr lvl="0"/>
            <a:r>
              <a:rPr lang="en-IN" sz="3200" dirty="0"/>
              <a:t>Motivation: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Large amounts of student data are available.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Raw data is difficult to understand directly.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Data visualization can make performance patterns easier to understand.</a:t>
            </a:r>
          </a:p>
          <a:p>
            <a:pPr lvl="0"/>
            <a:endParaRPr lang="en-IN" sz="2400" dirty="0"/>
          </a:p>
          <a:p>
            <a:pPr lvl="0"/>
            <a:endParaRPr lang="en-IN" sz="3200" dirty="0"/>
          </a:p>
          <a:p>
            <a:pPr lvl="0"/>
            <a:endParaRPr lang="en-IN" sz="3200" dirty="0"/>
          </a:p>
          <a:p>
            <a:pPr lvl="0"/>
            <a:endParaRPr lang="en-IN" sz="3200" dirty="0"/>
          </a:p>
          <a:p>
            <a:endParaRPr lang="en-US" altLang="en-US" sz="2400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6DA366D-79E0-746D-7015-3B9741053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920" y="-201064"/>
            <a:ext cx="2662434" cy="197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04274" y="405765"/>
            <a:ext cx="9918065" cy="6452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Objectives:</a:t>
            </a: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 err="1"/>
              <a:t>Analyze</a:t>
            </a:r>
            <a:r>
              <a:rPr lang="en-IN" sz="2400" dirty="0"/>
              <a:t> student academic performance using Python.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Clean and prepare student performance data.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Identify relationships between </a:t>
            </a:r>
            <a:r>
              <a:rPr lang="en-IN" sz="2400" b="1" dirty="0"/>
              <a:t>attendance, study time and marks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Visualize performance using different charts.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Develop an interactive </a:t>
            </a:r>
            <a:r>
              <a:rPr lang="en-IN" sz="2400" b="1" dirty="0" err="1"/>
              <a:t>Streamlit</a:t>
            </a:r>
            <a:r>
              <a:rPr lang="en-IN" sz="2400" b="1" dirty="0"/>
              <a:t> dashboard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Provide simple insights that help educators understand student performance</a:t>
            </a:r>
          </a:p>
          <a:p>
            <a:endParaRPr lang="en-US" sz="2400" dirty="0">
              <a:latin typeface="Trebuchet MS" panose="020B0603020202020204" charset="0"/>
              <a:cs typeface="Trebuchet MS" panose="020B0603020202020204" charset="0"/>
              <a:sym typeface="+mn-ea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20F6A32-702B-BF58-14BD-BB4BB62B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399" y="-240568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618" y="394758"/>
            <a:ext cx="4041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Expected Outcomes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7350" y="1041400"/>
            <a:ext cx="10126345" cy="5400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Interactive student performance dashboard.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Average marks and attendance analysis.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Study-hours analysis.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Grade distribution visualization.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Correlation analysis between important factors.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Easy identification of performance patterns.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Better support for </a:t>
            </a:r>
            <a:r>
              <a:rPr lang="en-IN" sz="2800" b="1" dirty="0"/>
              <a:t>data-driven decision-making</a:t>
            </a:r>
            <a:r>
              <a:rPr lang="en-IN" sz="2800" dirty="0"/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75E674-AA36-CB74-2ED4-8C7AFE630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378" y="-348722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8132" y="491613"/>
            <a:ext cx="7422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Literature Survey / Existing System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4CB773C-472A-3360-2ADA-13C32065F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53" y="-309394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D39BC7-D3C6-1F75-972D-0E6B10106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21239"/>
              </p:ext>
            </p:extLst>
          </p:nvPr>
        </p:nvGraphicFramePr>
        <p:xfrm>
          <a:off x="437208" y="1506301"/>
          <a:ext cx="10589340" cy="4700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7868">
                  <a:extLst>
                    <a:ext uri="{9D8B030D-6E8A-4147-A177-3AD203B41FA5}">
                      <a16:colId xmlns:a16="http://schemas.microsoft.com/office/drawing/2014/main" val="2548303012"/>
                    </a:ext>
                  </a:extLst>
                </a:gridCol>
                <a:gridCol w="2117868">
                  <a:extLst>
                    <a:ext uri="{9D8B030D-6E8A-4147-A177-3AD203B41FA5}">
                      <a16:colId xmlns:a16="http://schemas.microsoft.com/office/drawing/2014/main" val="688998425"/>
                    </a:ext>
                  </a:extLst>
                </a:gridCol>
                <a:gridCol w="2117868">
                  <a:extLst>
                    <a:ext uri="{9D8B030D-6E8A-4147-A177-3AD203B41FA5}">
                      <a16:colId xmlns:a16="http://schemas.microsoft.com/office/drawing/2014/main" val="2687863619"/>
                    </a:ext>
                  </a:extLst>
                </a:gridCol>
                <a:gridCol w="2117868">
                  <a:extLst>
                    <a:ext uri="{9D8B030D-6E8A-4147-A177-3AD203B41FA5}">
                      <a16:colId xmlns:a16="http://schemas.microsoft.com/office/drawing/2014/main" val="2329439802"/>
                    </a:ext>
                  </a:extLst>
                </a:gridCol>
                <a:gridCol w="2117868">
                  <a:extLst>
                    <a:ext uri="{9D8B030D-6E8A-4147-A177-3AD203B41FA5}">
                      <a16:colId xmlns:a16="http://schemas.microsoft.com/office/drawing/2014/main" val="3378277570"/>
                    </a:ext>
                  </a:extLst>
                </a:gridCol>
              </a:tblGrid>
              <a:tr h="14712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 err="1"/>
                        <a:t>S.No</a:t>
                      </a:r>
                      <a:r>
                        <a:rPr lang="en-IN" sz="1200" dirty="0"/>
                        <a:t>.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Author / Year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Research Work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Key Findings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Limitation</a:t>
                      </a:r>
                      <a:endParaRPr lang="en-IN" sz="1200" dirty="0"/>
                    </a:p>
                  </a:txBody>
                  <a:tcPr marL="34091" marR="34091" marT="17045" marB="17045" anchor="ctr"/>
                </a:tc>
                <a:extLst>
                  <a:ext uri="{0D108BD9-81ED-4DB2-BD59-A6C34878D82A}">
                    <a16:rowId xmlns:a16="http://schemas.microsoft.com/office/drawing/2014/main" val="973457226"/>
                  </a:ext>
                </a:extLst>
              </a:tr>
              <a:tr h="80210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1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Yin (2026)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Predicting Student Academic Performance Using </a:t>
                      </a:r>
                      <a:r>
                        <a:rPr lang="en-IN" sz="1200" dirty="0" err="1"/>
                        <a:t>TabPFN</a:t>
                      </a:r>
                      <a:r>
                        <a:rPr lang="en-IN" sz="1200" dirty="0"/>
                        <a:t> and SHAP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Used machine learning to predict student academic performance and explain predictions using SHAP.</a:t>
                      </a:r>
                      <a:endParaRPr lang="en-IN" sz="1200" dirty="0"/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Mainly focused on prediction rather than visualization.</a:t>
                      </a:r>
                    </a:p>
                  </a:txBody>
                  <a:tcPr marL="34091" marR="34091" marT="17045" marB="17045" anchor="ctr"/>
                </a:tc>
                <a:extLst>
                  <a:ext uri="{0D108BD9-81ED-4DB2-BD59-A6C34878D82A}">
                    <a16:rowId xmlns:a16="http://schemas.microsoft.com/office/drawing/2014/main" val="1691855912"/>
                  </a:ext>
                </a:extLst>
              </a:tr>
              <a:tr h="80210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Student Performance Prediction Review (2026)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Predicting Student Performance Using ML, DL and XAI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Reviewed ML, DL and Explainable AI methods for student performance prediction.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Limited connection between predictions and practical educational interventions.</a:t>
                      </a:r>
                    </a:p>
                  </a:txBody>
                  <a:tcPr marL="34091" marR="34091" marT="17045" marB="17045" anchor="ctr"/>
                </a:tc>
                <a:extLst>
                  <a:ext uri="{0D108BD9-81ED-4DB2-BD59-A6C34878D82A}">
                    <a16:rowId xmlns:a16="http://schemas.microsoft.com/office/drawing/2014/main" val="1751650358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Cabral et al. (2025)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AI-Powered Learning Analytics Dashboards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Reviewed AI-based dashboards for student performance analysis and teacher insights.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Limited real-world classroom evaluation.</a:t>
                      </a:r>
                    </a:p>
                  </a:txBody>
                  <a:tcPr marL="34091" marR="34091" marT="17045" marB="17045" anchor="ctr"/>
                </a:tc>
                <a:extLst>
                  <a:ext uri="{0D108BD9-81ED-4DB2-BD59-A6C34878D82A}">
                    <a16:rowId xmlns:a16="http://schemas.microsoft.com/office/drawing/2014/main" val="722569088"/>
                  </a:ext>
                </a:extLst>
              </a:tr>
              <a:tr h="80210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Lou &amp; Colvin (2025)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Performance Prediction Using Educational Data Mining Techniques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Compared data-mining techniques for predicting student performance and supporting early intervention.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Mainly focused on prediction rather than interactive visualization.</a:t>
                      </a:r>
                    </a:p>
                  </a:txBody>
                  <a:tcPr marL="34091" marR="34091" marT="17045" marB="17045" anchor="ctr"/>
                </a:tc>
                <a:extLst>
                  <a:ext uri="{0D108BD9-81ED-4DB2-BD59-A6C34878D82A}">
                    <a16:rowId xmlns:a16="http://schemas.microsoft.com/office/drawing/2014/main" val="668724602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Cerezo et al. (2024)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Learning Analytics and Educational Data Mining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Compared Learning Analytics and Educational Data Mining approaches in education.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Focused mainly on research methods rather than dashboard development.</a:t>
                      </a:r>
                    </a:p>
                  </a:txBody>
                  <a:tcPr marL="34091" marR="34091" marT="17045" marB="17045" anchor="ctr"/>
                </a:tc>
                <a:extLst>
                  <a:ext uri="{0D108BD9-81ED-4DB2-BD59-A6C34878D82A}">
                    <a16:rowId xmlns:a16="http://schemas.microsoft.com/office/drawing/2014/main" val="1831403740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6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Romero &amp; Ventura (2024)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Educational Data Mining and Learning Analytics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Reviewed modern techniques for analyzing educational data and understanding student learning.</a:t>
                      </a:r>
                    </a:p>
                  </a:txBody>
                  <a:tcPr marL="34091" marR="34091" marT="17045" marB="170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Broad scope and not specifically focused on interactive dashboards.</a:t>
                      </a:r>
                    </a:p>
                  </a:txBody>
                  <a:tcPr marL="34091" marR="34091" marT="17045" marB="17045" anchor="ctr"/>
                </a:tc>
                <a:extLst>
                  <a:ext uri="{0D108BD9-81ED-4DB2-BD59-A6C34878D82A}">
                    <a16:rowId xmlns:a16="http://schemas.microsoft.com/office/drawing/2014/main" val="40848435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0123" y="410090"/>
            <a:ext cx="6132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Limitations / Research Gap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80123" y="1326383"/>
            <a:ext cx="34150843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Manual analysis takes time.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Raw data is difficult to interpret.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Basic systems may provide limited visual analysis.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Relationships between different factors may not be clearly visible.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Some systems are not interactive or easy to use.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There is a need for a </a:t>
            </a:r>
            <a:r>
              <a:rPr lang="en-IN" sz="2800" b="1" dirty="0"/>
              <a:t>simple, interactive and easy-to-understand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b="1" dirty="0"/>
              <a:t> dashboard</a:t>
            </a:r>
          </a:p>
          <a:p>
            <a:pPr lvl="0" algn="just"/>
            <a:r>
              <a:rPr lang="en-IN" sz="2800" dirty="0"/>
              <a:t>      that combines student performance data with multiple visual and</a:t>
            </a:r>
          </a:p>
          <a:p>
            <a:pPr lvl="0" algn="just"/>
            <a:r>
              <a:rPr lang="en-IN" sz="2800" dirty="0"/>
              <a:t>      correlation analyses.</a:t>
            </a:r>
          </a:p>
          <a:p>
            <a:pPr lvl="0"/>
            <a:endParaRPr lang="en-IN" sz="2800" dirty="0"/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BAF68-58C6-62EA-3105-B45A9F46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739" y="-228002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213" y="478791"/>
            <a:ext cx="3523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Proposed System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545" y="1543050"/>
            <a:ext cx="10410825" cy="48602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IN" sz="2400" dirty="0"/>
              <a:t>Student Dataset → Data Cleaning → Data Analysis → Visualization → </a:t>
            </a:r>
            <a:r>
              <a:rPr lang="en-IN" sz="2400" dirty="0" err="1"/>
              <a:t>Streamlit</a:t>
            </a:r>
            <a:r>
              <a:rPr lang="en-IN" sz="2400" dirty="0"/>
              <a:t> Dashboard</a:t>
            </a:r>
          </a:p>
          <a:p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Uses </a:t>
            </a:r>
            <a:r>
              <a:rPr lang="en-IN" sz="2400" b="1" dirty="0"/>
              <a:t>Pandas and NumPy</a:t>
            </a:r>
            <a:r>
              <a:rPr lang="en-IN" sz="2400" dirty="0"/>
              <a:t> for data processing.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Uses </a:t>
            </a:r>
            <a:r>
              <a:rPr lang="en-IN" sz="2400" b="1" dirty="0"/>
              <a:t>Matplotlib and Seaborn</a:t>
            </a:r>
            <a:r>
              <a:rPr lang="en-IN" sz="2400" dirty="0"/>
              <a:t> for visualization.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Uses </a:t>
            </a:r>
            <a:r>
              <a:rPr lang="en-IN" sz="2400" b="1" dirty="0" err="1"/>
              <a:t>Streamlit</a:t>
            </a:r>
            <a:r>
              <a:rPr lang="en-IN" sz="2400" dirty="0"/>
              <a:t> to create an interactive dashboard.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Shows important performance indicators and relationships.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Can optionally include </a:t>
            </a:r>
            <a:r>
              <a:rPr lang="en-IN" sz="2400" b="1" dirty="0"/>
              <a:t>Machine Learning for score prediction</a:t>
            </a:r>
            <a:r>
              <a:rPr lang="en-IN" sz="2400" dirty="0"/>
              <a:t>.</a:t>
            </a:r>
          </a:p>
          <a:p>
            <a:endParaRPr lang="en-US" altLang="en-US" sz="2400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3F0F44-A3C4-B0F8-3B03-DED0FE7C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285" y="-270065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7266" y="1138192"/>
            <a:ext cx="8087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How Proposed System Addresses the Gap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FBD2B3D-E2EE-B819-412A-FC974C3F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76" y="-206860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557AE-D068-2E88-D4C4-681F63DDB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98742"/>
              </p:ext>
            </p:extLst>
          </p:nvPr>
        </p:nvGraphicFramePr>
        <p:xfrm>
          <a:off x="567266" y="2017032"/>
          <a:ext cx="100584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7980681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94919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Existing Problem: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Proposed Solution: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56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054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to understand raw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75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performance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34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Streamlit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592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 and correlation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8807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E835-3051-C639-69E7-366B1555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278CA-AB7C-7DF0-B5F0-CE1D19F81547}"/>
              </a:ext>
            </a:extLst>
          </p:cNvPr>
          <p:cNvSpPr txBox="1"/>
          <p:nvPr/>
        </p:nvSpPr>
        <p:spPr>
          <a:xfrm>
            <a:off x="567266" y="973561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FBC16-FEF3-4395-57D0-61B19D2DF8FF}"/>
              </a:ext>
            </a:extLst>
          </p:cNvPr>
          <p:cNvSpPr txBox="1"/>
          <p:nvPr/>
        </p:nvSpPr>
        <p:spPr>
          <a:xfrm>
            <a:off x="567266" y="2101591"/>
            <a:ext cx="86638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 project converts raw student data into </a:t>
            </a:r>
            <a:r>
              <a:rPr lang="en-IN" sz="2400" b="1" dirty="0"/>
              <a:t>simple visual insights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It helps understand factors related to academic performance.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 interactive dashboard makes analysis easier for educators.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 system can support </a:t>
            </a:r>
            <a:r>
              <a:rPr lang="en-IN" sz="2400" b="1" dirty="0"/>
              <a:t>data-driven academic decision-making</a:t>
            </a:r>
            <a:r>
              <a:rPr lang="en-IN" sz="2400" dirty="0"/>
              <a:t>.</a:t>
            </a:r>
          </a:p>
          <a:p>
            <a:endParaRPr lang="en-US" altLang="en-US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A381C0-4C82-E15C-EB32-DB22F892D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76" y="-206860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3312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</TotalTime>
  <Words>660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Calibri Light</vt:lpstr>
      <vt:lpstr>Times New Roman</vt:lpstr>
      <vt:lpstr>Trebuchet MS</vt:lpstr>
      <vt:lpstr>Wingdings</vt:lpstr>
      <vt:lpstr>Retrospect</vt:lpstr>
      <vt:lpstr> Student Performance Analytics Dashboard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srinikasontireddy@gmail.com</dc:creator>
  <cp:lastModifiedBy>israjiwadi srivalli</cp:lastModifiedBy>
  <cp:revision>15</cp:revision>
  <dcterms:created xsi:type="dcterms:W3CDTF">2026-02-21T11:17:00Z</dcterms:created>
  <dcterms:modified xsi:type="dcterms:W3CDTF">2026-09-30T09:26:24Z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0E2CEB5C7AFA42198F7CD99806A4DF6A_13</vt:lpwstr>
  </property>
  <property fmtid="{D5CDD505-2E9C-101B-9397-08002B2CF9AE}" pid="3" name="KSOProductBuildVer">
    <vt:lpwstr>1033-12.1.0.25242</vt:lpwstr>
  </property>
</Properties>
</file>